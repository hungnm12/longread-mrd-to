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PASS SNVs</c:v>
                </c:pt>
              </c:strCache>
            </c:strRef>
          </c:tx>
          <c:dPt>
            <c:idx val="0"/>
            <c:spPr>
              <a:solidFill>
                <a:srgbClr val="1F5C4E"/>
              </a:solidFill>
            </c:spPr>
          </c:dPt>
          <c:dPt>
            <c:idx val="1"/>
            <c:spPr>
              <a:solidFill>
                <a:srgbClr val="8D5C14"/>
              </a:solidFill>
            </c:spPr>
          </c:dPt>
          <c:dPt>
            <c:idx val="2"/>
            <c:spPr>
              <a:solidFill>
                <a:srgbClr val="C9BEB2"/>
              </a:solidFill>
            </c:spPr>
          </c:dPt>
          <c:cat>
            <c:strRef>
              <c:f>Sheet1!$A$2:$A$4</c:f>
              <c:strCache>
                <c:ptCount val="3"/>
                <c:pt idx="0">
                  <c:v>Het-like 0.40–0.60</c:v>
                </c:pt>
                <c:pt idx="1">
                  <c:v>Hom-like &gt; 0.90</c:v>
                </c:pt>
                <c:pt idx="2">
                  <c:v>Other VAF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24.4</c:v>
                </c:pt>
                <c:pt idx="1">
                  <c:v>22.4</c:v>
                </c:pt>
                <c:pt idx="2">
                  <c:v>53.2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1F1B1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50">
          <a:solidFill>
            <a:srgbClr val="1F1B16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dPt>
            <c:idx val="0"/>
            <c:spPr>
              <a:solidFill>
                <a:srgbClr val="8F3D2C"/>
              </a:solidFill>
            </c:spPr>
          </c:dPt>
          <c:dPt>
            <c:idx val="1"/>
            <c:spPr>
              <a:solidFill>
                <a:srgbClr val="1F5C4E"/>
              </a:solidFill>
            </c:spPr>
          </c:dPt>
          <c:dPt>
            <c:idx val="2"/>
            <c:spPr>
              <a:solidFill>
                <a:srgbClr val="1F5C4E"/>
              </a:solidFill>
            </c:spPr>
          </c:dPt>
          <c:cat>
            <c:strRef>
              <c:f>Sheet1!$A$2:$A$4</c:f>
              <c:strCache>
                <c:ptCount val="3"/>
                <c:pt idx="0">
                  <c:v>VAF ~ depth</c:v>
                </c:pt>
                <c:pt idx="1">
                  <c:v>ALT support ~ depth</c:v>
                </c:pt>
                <c:pt idx="2">
                  <c:v>ALT support ~ VAF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-0.419</c:v>
                </c:pt>
                <c:pt idx="1">
                  <c:v>0.328</c:v>
                </c:pt>
                <c:pt idx="2">
                  <c:v>0.613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0.6"/>
        </c:scaling>
        <c:delete val="0"/>
        <c:axPos val="b"/>
        <c:majorGridlines/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1B1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1F5C4E"/>
                </a:solidFill>
                <a:latin typeface="Calibri"/>
              </a:rPr>
              <a:t>RESEARCH REPORT · WORK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9966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 i="0">
                <a:solidFill>
                  <a:srgbClr val="1F1B16"/>
                </a:solidFill>
                <a:latin typeface="Georgia"/>
              </a:rPr>
              <a:t>From Tumor-Only SNV Candidates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0" i="0">
                <a:solidFill>
                  <a:srgbClr val="1F1B16"/>
                </a:solidFill>
                <a:latin typeface="Georgia"/>
              </a:rPr>
              <a:t>to a Multimodal MRD 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401568"/>
            <a:ext cx="2743200" cy="18288"/>
          </a:xfrm>
          <a:prstGeom prst="rect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639312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1">
                <a:solidFill>
                  <a:srgbClr val="695F56"/>
                </a:solidFill>
                <a:latin typeface="Georgia"/>
              </a:rPr>
              <a:t>Can phase and native methylation evidence improve tumor-signal recognition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1">
                <a:solidFill>
                  <a:srgbClr val="695F56"/>
                </a:solidFill>
                <a:latin typeface="Georgia"/>
              </a:rPr>
              <a:t>beyond SNV-only evidence?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89204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1F5C4E"/>
                </a:solidFill>
                <a:latin typeface="Calibri"/>
              </a:rPr>
              <a:t>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138928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1F1B16"/>
                </a:solidFill>
                <a:latin typeface="Calibri"/>
              </a:rPr>
              <a:t>HCC1395 · ONT long reads · tumor-only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89204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1F5C4E"/>
                </a:solidFill>
                <a:latin typeface="Calibri"/>
              </a:rPr>
              <a:t>CALLER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138928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1F1B16"/>
                </a:solidFill>
                <a:latin typeface="Calibri"/>
              </a:rPr>
              <a:t>ClairS-TO v0.5.0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89204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1F5C4E"/>
                </a:solidFill>
                <a:latin typeface="Calibri"/>
              </a:rPr>
              <a:t>CANDIDATES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138928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1F1B16"/>
                </a:solidFill>
                <a:latin typeface="Calibri"/>
              </a:rPr>
              <a:t>48,819 PASS SNVs of 3,169,996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489204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1F5C4E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138928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1F1B16"/>
                </a:solidFill>
                <a:latin typeface="Calibri"/>
              </a:rPr>
              <a:t>Hypothesis stage — no detection result claimed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14476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695F56"/>
                </a:solidFill>
                <a:latin typeface="Calibri"/>
              </a:rPr>
              <a:t>mrd-research-os.hungnguyenmanh2k2.workers.dev  ·  18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A rare signal inside a chemically identical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695F56"/>
                </a:solidFill>
                <a:latin typeface="Calibri"/>
              </a:rPr>
              <a:t>Minimal residual disease is what remains after treatment, below the reach of imaging.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9244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02436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99032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95628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92224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88819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85416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82012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78608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75203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71800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68396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64991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61588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58184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780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51376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47972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4568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41164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37759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34356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30952" y="198424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2648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9244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02436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99032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595628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792224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88819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85416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82012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78608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75203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71800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68396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364991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61588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58184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54780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151376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47972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44568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741164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37759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34356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330952" y="218084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2648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09244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5840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202436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99032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595628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792224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988819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85416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82012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578608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75203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971800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168396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64991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61588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758184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954780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51376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47972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544568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741164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937759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134356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30952" y="237744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12648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09244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05840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202436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399032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595628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792224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988819" y="2574036"/>
            <a:ext cx="141732" cy="141732"/>
          </a:xfrm>
          <a:prstGeom prst="ellipse">
            <a:avLst/>
          </a:prstGeom>
          <a:solidFill>
            <a:srgbClr val="8F3D2C"/>
          </a:solidFill>
          <a:ln w="12700">
            <a:solidFill>
              <a:srgbClr val="8F3D2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185416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82012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578608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775203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971800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168396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364991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561588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758184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954780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151376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7972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544568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741164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937759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134356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330952" y="257403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12648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09244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05840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202436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399032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595628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792224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988819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185416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382012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578608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775203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971800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168396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364991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561588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758184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954780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151376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347972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544568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741164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37759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134356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330952" y="277063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12648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09244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05840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202436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399032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595628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792224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988819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2185416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382012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2578608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2775203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971800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168396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364991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1588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758184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954780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151376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347972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44568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741164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937759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134356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330952" y="296722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12648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09244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05840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202436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399032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595628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792224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988819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185416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382012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578608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775203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971800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168396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364991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561588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758184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3954780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151376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347972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544568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741164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937759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134356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330952" y="316382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612648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09244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005840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02436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99032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595628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792224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988819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185416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382012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578608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775203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971800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168396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364991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561588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3758184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3954780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4151376" y="3360420"/>
            <a:ext cx="141732" cy="141732"/>
          </a:xfrm>
          <a:prstGeom prst="ellipse">
            <a:avLst/>
          </a:prstGeom>
          <a:solidFill>
            <a:srgbClr val="8F3D2C"/>
          </a:solidFill>
          <a:ln w="12700">
            <a:solidFill>
              <a:srgbClr val="8F3D2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347972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544568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741164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937759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134356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5330952" y="336042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12648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09244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005840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202436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399032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95628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792224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988819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185416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2382012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2578608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2775203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2971800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3168396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3364991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3561588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3758184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3954780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151376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347972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544568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741164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937759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5134356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330952" y="3557015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612648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809244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05840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202436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399032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595628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792224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988819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185416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382012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2578608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2775203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2971800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3168396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3364991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3561588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3758184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3954780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151376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347972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544568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4741164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4937759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134356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5330952" y="375361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612648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809244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05840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202436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399032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595628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792224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988819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2185416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382012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578608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775203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2971800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3168396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3364991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3561588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3758184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3954780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4151376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4347972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4544568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4741164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4937759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5134356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5330952" y="3950208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612648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809244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05840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202436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399032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595628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792224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88819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185416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382012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578608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775203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971800" y="4146804"/>
            <a:ext cx="141732" cy="141732"/>
          </a:xfrm>
          <a:prstGeom prst="ellipse">
            <a:avLst/>
          </a:prstGeom>
          <a:solidFill>
            <a:srgbClr val="8F3D2C"/>
          </a:solidFill>
          <a:ln w="12700">
            <a:solidFill>
              <a:srgbClr val="8F3D2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3168396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3364991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3561588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3758184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3954780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4151376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4347972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4544568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4741164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4937759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5134356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5330952" y="4146804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612648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809244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05840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202436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399032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595628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792224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988819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85416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382012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578608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775203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71800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168396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364991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3561588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758184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954780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151376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347972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4544568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4741164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4937759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5134356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5330952" y="4343400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612648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809244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05840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202436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399032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595628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792224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988819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185416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82012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578608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775203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971800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168396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364991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561588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3758184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3954780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4151376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4347972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4544568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4741164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4937759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134356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5330952" y="4539996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612648" y="4965192"/>
            <a:ext cx="141732" cy="141732"/>
          </a:xfrm>
          <a:prstGeom prst="ellipse">
            <a:avLst/>
          </a:prstGeom>
          <a:solidFill>
            <a:srgbClr val="8F3D2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813816" y="4937759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1F1B16"/>
                </a:solidFill>
                <a:latin typeface="Calibri"/>
              </a:rPr>
              <a:t>tumor-derived</a:t>
            </a:r>
          </a:p>
        </p:txBody>
      </p:sp>
      <p:sp>
        <p:nvSpPr>
          <p:cNvPr id="359" name="Oval 358"/>
          <p:cNvSpPr/>
          <p:nvPr/>
        </p:nvSpPr>
        <p:spPr>
          <a:xfrm>
            <a:off x="2167128" y="4965192"/>
            <a:ext cx="141732" cy="141732"/>
          </a:xfrm>
          <a:prstGeom prst="ellipse">
            <a:avLst/>
          </a:prstGeom>
          <a:solidFill>
            <a:srgbClr val="E3DCD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2368296" y="4937759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695F56"/>
                </a:solidFill>
                <a:latin typeface="Calibri"/>
              </a:rPr>
              <a:t>background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6076188" y="1984248"/>
            <a:ext cx="5548579" cy="1234440"/>
          </a:xfrm>
          <a:prstGeom prst="roundRect">
            <a:avLst>
              <a:gd name="adj" fmla="val 5000"/>
            </a:avLst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FFFFFF"/>
                </a:solidFill>
                <a:latin typeface="Georgia"/>
              </a:rPr>
              <a:t>3 in 350 molecules</a:t>
            </a:r>
          </a:p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FFFFFF"/>
                </a:solidFill>
                <a:latin typeface="Georgia"/>
              </a:rPr>
              <a:t>at 1% tumor fraction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6076188" y="3493008"/>
            <a:ext cx="55485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 i="0">
                <a:solidFill>
                  <a:srgbClr val="1F1B16"/>
                </a:solidFill>
                <a:latin typeface="Calibri"/>
              </a:rPr>
              <a:t>The measurement is not a search for something unusual. It is a search for specific molecules that are chemically identical to a background arriving in vast excess.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6076188" y="4636008"/>
            <a:ext cx="1463040" cy="18288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364" name="TextBox 363"/>
          <p:cNvSpPr txBox="1"/>
          <p:nvPr/>
        </p:nvSpPr>
        <p:spPr>
          <a:xfrm>
            <a:off x="6076188" y="4864608"/>
            <a:ext cx="55485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 i="0">
                <a:solidFill>
                  <a:srgbClr val="695F56"/>
                </a:solidFill>
                <a:latin typeface="Calibri"/>
              </a:rPr>
              <a:t>Detected residue is the earliest evidence about treatment outcome.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 i="0">
                <a:solidFill>
                  <a:srgbClr val="695F56"/>
                </a:solidFill>
                <a:latin typeface="Calibri"/>
              </a:rPr>
              <a:t>Its absence is evidence — not proof.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566928" y="6355080"/>
            <a:ext cx="9594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Illustrative schematic. Not measured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2 · WHY IT IS DIFFICULT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Every method is improving the same ratio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92807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 i="0">
                <a:solidFill>
                  <a:srgbClr val="1F5C4E"/>
                </a:solidFill>
                <a:latin typeface="Georgia"/>
              </a:rPr>
              <a:t>Tumor 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2414016"/>
            <a:ext cx="2606039" cy="18288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505456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 i="0">
                <a:solidFill>
                  <a:srgbClr val="8F3D2C"/>
                </a:solidFill>
                <a:latin typeface="Georgia"/>
              </a:rPr>
              <a:t>Background noise</a:t>
            </a:r>
          </a:p>
        </p:txBody>
      </p:sp>
      <p:sp>
        <p:nvSpPr>
          <p:cNvPr id="9" name="Right Arrow 8"/>
          <p:cNvSpPr/>
          <p:nvPr/>
        </p:nvSpPr>
        <p:spPr>
          <a:xfrm rot="16200000">
            <a:off x="2071116" y="3172968"/>
            <a:ext cx="237744" cy="457200"/>
          </a:xfrm>
          <a:prstGeom prst="rightArrow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6732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 i="1">
                <a:solidFill>
                  <a:srgbClr val="695F56"/>
                </a:solidFill>
                <a:latin typeface="Calibri"/>
              </a:rPr>
              <a:t>maximise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270248"/>
            <a:ext cx="3246120" cy="1417320"/>
          </a:xfrm>
          <a:prstGeom prst="roundRect">
            <a:avLst>
              <a:gd name="adj" fmla="val 5000"/>
            </a:avLst>
          </a:prstGeom>
          <a:solidFill>
            <a:srgbClr val="F6DDD7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F3D2C"/>
                </a:solidFill>
                <a:latin typeface="Calibri"/>
              </a:rPr>
              <a:t>Background ⊋ sequencing error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F3D2C"/>
                </a:solidFill>
                <a:latin typeface="Calibr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F3D2C"/>
                </a:solidFill>
                <a:latin typeface="Calibri"/>
              </a:rPr>
              <a:t>germline without a matched normal · clonal haematopoiesis ·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F3D2C"/>
                </a:solidFill>
                <a:latin typeface="Calibri"/>
              </a:rPr>
              <a:t>alignment artifacts · protocol bias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847088"/>
            <a:ext cx="7263079" cy="1298448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103120"/>
            <a:ext cx="420624" cy="420624"/>
          </a:xfrm>
          <a:prstGeom prst="ellipse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084832"/>
            <a:ext cx="6074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1F1B16"/>
                </a:solidFill>
                <a:latin typeface="Georgia"/>
              </a:rPr>
              <a:t>Limited tumor-derived molecules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468880"/>
            <a:ext cx="60743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695F56"/>
                </a:solidFill>
                <a:latin typeface="Calibri"/>
              </a:rPr>
              <a:t>At low tumor fraction the evidence at one locus can shrink to a single observation.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3401568"/>
            <a:ext cx="7263079" cy="1298448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17720" y="3657600"/>
            <a:ext cx="420624" cy="420624"/>
          </a:xfrm>
          <a:prstGeom prst="ellipse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3639311"/>
            <a:ext cx="6074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1F1B16"/>
                </a:solidFill>
                <a:latin typeface="Georgia"/>
              </a:rPr>
              <a:t>Errors mimic true mutations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4023359"/>
            <a:ext cx="60743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695F56"/>
                </a:solidFill>
                <a:latin typeface="Calibri"/>
              </a:rPr>
              <a:t>One read carrying an alternative allele looks the same whether it is real or an error.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4956048"/>
            <a:ext cx="7263079" cy="1298448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17720" y="5212080"/>
            <a:ext cx="420624" cy="420624"/>
          </a:xfrm>
          <a:prstGeom prst="ellipse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5193792"/>
            <a:ext cx="6074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1F1B16"/>
                </a:solidFill>
                <a:latin typeface="Georgia"/>
              </a:rPr>
              <a:t>One modality may not be enough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5577840"/>
            <a:ext cx="60743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695F56"/>
                </a:solidFill>
                <a:latin typeface="Calibri"/>
              </a:rPr>
              <a:t>If a molecule is described by a single fact, that fact must separate signal from background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3 ·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Each study attacks the ratio at a different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82495"/>
          <a:ext cx="11091672" cy="3904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2148840"/>
                <a:gridCol w="3246120"/>
                <a:gridCol w="336499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anchor="ctr" marL="82296" marR="82296">
                    <a:solidFill>
                      <a:srgbClr val="1F5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Evidence modality</a:t>
                      </a:r>
                    </a:p>
                  </a:txBody>
                  <a:tcPr anchor="ctr" marL="82296" marR="82296">
                    <a:solidFill>
                      <a:srgbClr val="1F5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anchor="ctr" marL="82296" marR="82296">
                    <a:solidFill>
                      <a:srgbClr val="1F5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Limitation for tumor-only long reads</a:t>
                      </a:r>
                    </a:p>
                  </a:txBody>
                  <a:tcPr anchor="ctr" marL="82296" marR="82296">
                    <a:solidFill>
                      <a:srgbClr val="1F5C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1B16"/>
                          </a:solidFill>
                          <a:latin typeface="Calibri"/>
                        </a:rPr>
                        <a:t>MRDetect [1]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Genome-wide SNVs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Breadth over depth: integrate many weak loci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Aggregates across loci, not within a molecule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1B16"/>
                          </a:solidFill>
                          <a:latin typeface="Calibri"/>
                        </a:rPr>
                        <a:t>MRD-EDGE [2]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SNV + CNV, learned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Enrich signal before aggregation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Short-read feature space; no base modifications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1B16"/>
                          </a:solidFill>
                          <a:latin typeface="Calibri"/>
                        </a:rPr>
                        <a:t>PhasED-Seq [3]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Phased variants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Linkage: background must fail twice on one fragment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Needs ≥2 variants per fragment — scarce at low TF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1B16"/>
                          </a:solidFill>
                          <a:latin typeface="Calibri"/>
                        </a:rPr>
                        <a:t>Real-time ONT [4]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CNA + fragmentomics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Native long-read readout, no separate assay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Not single-nucleotide evidence at low TF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1B16"/>
                          </a:solidFill>
                          <a:latin typeface="Calibri"/>
                        </a:rPr>
                        <a:t>NanoRCS [5]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Consensus SNV / CNA / fragment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Raise per-read accuracy, combine modalities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Modalities are sequence-level, not phase + methylation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1B16"/>
                          </a:solidFill>
                          <a:latin typeface="Calibri"/>
                        </a:rPr>
                        <a:t>Methylation ↔ fragmentation [6]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Methylation, fragmentation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Explain what determines fragmentation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Warns: modalities are coupled, not independent</a:t>
                      </a:r>
                    </a:p>
                  </a:txBody>
                  <a:tcPr anchor="ctr" marL="82296" marR="82296" marT="36576" marB="36576">
                    <a:solidFill>
                      <a:srgbClr val="F4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1B16"/>
                          </a:solidFill>
                          <a:latin typeface="Calibri"/>
                        </a:rPr>
                        <a:t>ONT cfDNA methylation [7]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Native methylation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Specify protocol requirements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95F56"/>
                          </a:solidFill>
                          <a:latin typeface="Calibri"/>
                        </a:rPr>
                        <a:t>Requirements document, not a detection study</a:t>
                      </a:r>
                    </a:p>
                  </a:txBody>
                  <a:tcPr anchor="ctr" marL="82296" marR="82296" marT="36576" marB="36576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17920"/>
            <a:ext cx="9594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No performance figures are compared: different assays, sample types and cohorts make such a comparison unsupported.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4 ·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What is measured on the same molecule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695F56"/>
                </a:solidFill>
                <a:latin typeface="Calibri"/>
              </a:rPr>
              <a:t>Filled marks show the evidence each study reads off one physical molecule.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17007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SNV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7007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CNA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7007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Fragmentomics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648" y="17007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8" y="17007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Native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methylation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13848" y="17007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Joint on one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molecule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22576"/>
            <a:ext cx="11018520" cy="36576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656" y="2395728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695F56"/>
                </a:solidFill>
                <a:latin typeface="Calibri"/>
              </a:rPr>
              <a:t>MRDetect [1]</a:t>
            </a:r>
          </a:p>
        </p:txBody>
      </p:sp>
      <p:sp>
        <p:nvSpPr>
          <p:cNvPr id="15" name="Oval 14"/>
          <p:cNvSpPr/>
          <p:nvPr/>
        </p:nvSpPr>
        <p:spPr>
          <a:xfrm>
            <a:off x="3959352" y="2414016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16" name="Oval 15"/>
          <p:cNvSpPr/>
          <p:nvPr/>
        </p:nvSpPr>
        <p:spPr>
          <a:xfrm>
            <a:off x="5349240" y="2432304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17" name="Oval 16"/>
          <p:cNvSpPr/>
          <p:nvPr/>
        </p:nvSpPr>
        <p:spPr>
          <a:xfrm>
            <a:off x="6720840" y="2432304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18" name="Oval 17"/>
          <p:cNvSpPr/>
          <p:nvPr/>
        </p:nvSpPr>
        <p:spPr>
          <a:xfrm>
            <a:off x="8092440" y="2432304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19" name="Oval 18"/>
          <p:cNvSpPr/>
          <p:nvPr/>
        </p:nvSpPr>
        <p:spPr>
          <a:xfrm>
            <a:off x="9464040" y="2432304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20" name="Oval 19"/>
          <p:cNvSpPr/>
          <p:nvPr/>
        </p:nvSpPr>
        <p:spPr>
          <a:xfrm>
            <a:off x="10835640" y="2432304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2743200"/>
            <a:ext cx="11018520" cy="365760"/>
          </a:xfrm>
          <a:prstGeom prst="rect">
            <a:avLst/>
          </a:prstGeom>
          <a:solidFill>
            <a:srgbClr val="F7F3E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656" y="2816352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695F56"/>
                </a:solidFill>
                <a:latin typeface="Calibri"/>
              </a:rPr>
              <a:t>MRD-EDGE [2]</a:t>
            </a:r>
          </a:p>
        </p:txBody>
      </p:sp>
      <p:sp>
        <p:nvSpPr>
          <p:cNvPr id="23" name="Oval 22"/>
          <p:cNvSpPr/>
          <p:nvPr/>
        </p:nvSpPr>
        <p:spPr>
          <a:xfrm>
            <a:off x="3959352" y="2834640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24" name="Oval 23"/>
          <p:cNvSpPr/>
          <p:nvPr/>
        </p:nvSpPr>
        <p:spPr>
          <a:xfrm>
            <a:off x="5330952" y="2834640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25" name="Oval 24"/>
          <p:cNvSpPr/>
          <p:nvPr/>
        </p:nvSpPr>
        <p:spPr>
          <a:xfrm>
            <a:off x="6720840" y="2852928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26" name="Oval 25"/>
          <p:cNvSpPr/>
          <p:nvPr/>
        </p:nvSpPr>
        <p:spPr>
          <a:xfrm>
            <a:off x="8092440" y="2852928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27" name="Oval 26"/>
          <p:cNvSpPr/>
          <p:nvPr/>
        </p:nvSpPr>
        <p:spPr>
          <a:xfrm>
            <a:off x="9464040" y="2852928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28" name="Oval 27"/>
          <p:cNvSpPr/>
          <p:nvPr/>
        </p:nvSpPr>
        <p:spPr>
          <a:xfrm>
            <a:off x="10835640" y="2852928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66928" y="3163824"/>
            <a:ext cx="11018520" cy="36576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76656" y="3236976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695F56"/>
                </a:solidFill>
                <a:latin typeface="Calibri"/>
              </a:rPr>
              <a:t>PhasED-Seq [3]</a:t>
            </a:r>
          </a:p>
        </p:txBody>
      </p:sp>
      <p:sp>
        <p:nvSpPr>
          <p:cNvPr id="31" name="Oval 30"/>
          <p:cNvSpPr/>
          <p:nvPr/>
        </p:nvSpPr>
        <p:spPr>
          <a:xfrm>
            <a:off x="3959352" y="3255264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32" name="Oval 31"/>
          <p:cNvSpPr/>
          <p:nvPr/>
        </p:nvSpPr>
        <p:spPr>
          <a:xfrm>
            <a:off x="5349240" y="3273552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33" name="Oval 32"/>
          <p:cNvSpPr/>
          <p:nvPr/>
        </p:nvSpPr>
        <p:spPr>
          <a:xfrm>
            <a:off x="6720840" y="3273552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34" name="Oval 33"/>
          <p:cNvSpPr/>
          <p:nvPr/>
        </p:nvSpPr>
        <p:spPr>
          <a:xfrm>
            <a:off x="8074152" y="3255264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35" name="Oval 34"/>
          <p:cNvSpPr/>
          <p:nvPr/>
        </p:nvSpPr>
        <p:spPr>
          <a:xfrm>
            <a:off x="9464040" y="3273552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36" name="Oval 35"/>
          <p:cNvSpPr/>
          <p:nvPr/>
        </p:nvSpPr>
        <p:spPr>
          <a:xfrm>
            <a:off x="10817352" y="3255264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66928" y="3584448"/>
            <a:ext cx="11018520" cy="365760"/>
          </a:xfrm>
          <a:prstGeom prst="rect">
            <a:avLst/>
          </a:prstGeom>
          <a:solidFill>
            <a:srgbClr val="F7F3E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6656" y="3657600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695F56"/>
                </a:solidFill>
                <a:latin typeface="Calibri"/>
              </a:rPr>
              <a:t>Real-time ONT [4]</a:t>
            </a:r>
          </a:p>
        </p:txBody>
      </p:sp>
      <p:sp>
        <p:nvSpPr>
          <p:cNvPr id="39" name="Oval 38"/>
          <p:cNvSpPr/>
          <p:nvPr/>
        </p:nvSpPr>
        <p:spPr>
          <a:xfrm>
            <a:off x="3977639" y="3694176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40" name="Oval 39"/>
          <p:cNvSpPr/>
          <p:nvPr/>
        </p:nvSpPr>
        <p:spPr>
          <a:xfrm>
            <a:off x="5330952" y="3675887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41" name="Oval 40"/>
          <p:cNvSpPr/>
          <p:nvPr/>
        </p:nvSpPr>
        <p:spPr>
          <a:xfrm>
            <a:off x="6702552" y="3675887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42" name="Oval 41"/>
          <p:cNvSpPr/>
          <p:nvPr/>
        </p:nvSpPr>
        <p:spPr>
          <a:xfrm>
            <a:off x="8092440" y="3694176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43" name="Oval 42"/>
          <p:cNvSpPr/>
          <p:nvPr/>
        </p:nvSpPr>
        <p:spPr>
          <a:xfrm>
            <a:off x="9464040" y="3694176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44" name="Oval 43"/>
          <p:cNvSpPr/>
          <p:nvPr/>
        </p:nvSpPr>
        <p:spPr>
          <a:xfrm>
            <a:off x="10835640" y="3694176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66928" y="4005072"/>
            <a:ext cx="11018520" cy="36576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76656" y="4078224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695F56"/>
                </a:solidFill>
                <a:latin typeface="Calibri"/>
              </a:rPr>
              <a:t>NanoRCS [5]</a:t>
            </a:r>
          </a:p>
        </p:txBody>
      </p:sp>
      <p:sp>
        <p:nvSpPr>
          <p:cNvPr id="47" name="Oval 46"/>
          <p:cNvSpPr/>
          <p:nvPr/>
        </p:nvSpPr>
        <p:spPr>
          <a:xfrm>
            <a:off x="3959352" y="4096511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48" name="Oval 47"/>
          <p:cNvSpPr/>
          <p:nvPr/>
        </p:nvSpPr>
        <p:spPr>
          <a:xfrm>
            <a:off x="5330952" y="4096511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49" name="Oval 48"/>
          <p:cNvSpPr/>
          <p:nvPr/>
        </p:nvSpPr>
        <p:spPr>
          <a:xfrm>
            <a:off x="6702552" y="4096511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0" name="Oval 49"/>
          <p:cNvSpPr/>
          <p:nvPr/>
        </p:nvSpPr>
        <p:spPr>
          <a:xfrm>
            <a:off x="8092440" y="4114800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51" name="Oval 50"/>
          <p:cNvSpPr/>
          <p:nvPr/>
        </p:nvSpPr>
        <p:spPr>
          <a:xfrm>
            <a:off x="9464040" y="4114800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52" name="Oval 51"/>
          <p:cNvSpPr/>
          <p:nvPr/>
        </p:nvSpPr>
        <p:spPr>
          <a:xfrm>
            <a:off x="10817352" y="4096511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66928" y="4425696"/>
            <a:ext cx="11018520" cy="365760"/>
          </a:xfrm>
          <a:prstGeom prst="rect">
            <a:avLst/>
          </a:prstGeom>
          <a:solidFill>
            <a:srgbClr val="F7F3E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76656" y="4498848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695F56"/>
                </a:solidFill>
                <a:latin typeface="Calibri"/>
              </a:rPr>
              <a:t>Methylation ↔ fragm. [6]</a:t>
            </a:r>
          </a:p>
        </p:txBody>
      </p:sp>
      <p:sp>
        <p:nvSpPr>
          <p:cNvPr id="55" name="Oval 54"/>
          <p:cNvSpPr/>
          <p:nvPr/>
        </p:nvSpPr>
        <p:spPr>
          <a:xfrm>
            <a:off x="3977639" y="4535424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56" name="Oval 55"/>
          <p:cNvSpPr/>
          <p:nvPr/>
        </p:nvSpPr>
        <p:spPr>
          <a:xfrm>
            <a:off x="5349240" y="4535424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57" name="Oval 56"/>
          <p:cNvSpPr/>
          <p:nvPr/>
        </p:nvSpPr>
        <p:spPr>
          <a:xfrm>
            <a:off x="6702552" y="4517136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8" name="Oval 57"/>
          <p:cNvSpPr/>
          <p:nvPr/>
        </p:nvSpPr>
        <p:spPr>
          <a:xfrm>
            <a:off x="8092440" y="4535424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59" name="Oval 58"/>
          <p:cNvSpPr/>
          <p:nvPr/>
        </p:nvSpPr>
        <p:spPr>
          <a:xfrm>
            <a:off x="9445752" y="4517136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60" name="Oval 59"/>
          <p:cNvSpPr/>
          <p:nvPr/>
        </p:nvSpPr>
        <p:spPr>
          <a:xfrm>
            <a:off x="10835640" y="4535424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66928" y="4846320"/>
            <a:ext cx="11018520" cy="36576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76656" y="4919472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695F56"/>
                </a:solidFill>
                <a:latin typeface="Calibri"/>
              </a:rPr>
              <a:t>ONT cfDNA methyl. [7]</a:t>
            </a:r>
          </a:p>
        </p:txBody>
      </p:sp>
      <p:sp>
        <p:nvSpPr>
          <p:cNvPr id="63" name="Oval 62"/>
          <p:cNvSpPr/>
          <p:nvPr/>
        </p:nvSpPr>
        <p:spPr>
          <a:xfrm>
            <a:off x="3977639" y="4956048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64" name="Oval 63"/>
          <p:cNvSpPr/>
          <p:nvPr/>
        </p:nvSpPr>
        <p:spPr>
          <a:xfrm>
            <a:off x="5349240" y="4956048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65" name="Oval 64"/>
          <p:cNvSpPr/>
          <p:nvPr/>
        </p:nvSpPr>
        <p:spPr>
          <a:xfrm>
            <a:off x="6720840" y="4956048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66" name="Oval 65"/>
          <p:cNvSpPr/>
          <p:nvPr/>
        </p:nvSpPr>
        <p:spPr>
          <a:xfrm>
            <a:off x="8092440" y="4956048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67" name="Oval 66"/>
          <p:cNvSpPr/>
          <p:nvPr/>
        </p:nvSpPr>
        <p:spPr>
          <a:xfrm>
            <a:off x="9445752" y="4937760"/>
            <a:ext cx="164592" cy="164592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68" name="Oval 67"/>
          <p:cNvSpPr/>
          <p:nvPr/>
        </p:nvSpPr>
        <p:spPr>
          <a:xfrm>
            <a:off x="10835640" y="4956048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566928" y="5266944"/>
            <a:ext cx="11018520" cy="365760"/>
          </a:xfrm>
          <a:prstGeom prst="rect">
            <a:avLst/>
          </a:prstGeom>
          <a:solidFill>
            <a:srgbClr val="D8EBE5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76656" y="5340096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1F1B16"/>
                </a:solidFill>
                <a:latin typeface="Calibri"/>
              </a:rPr>
              <a:t>This project (proposed)</a:t>
            </a:r>
          </a:p>
        </p:txBody>
      </p:sp>
      <p:sp>
        <p:nvSpPr>
          <p:cNvPr id="71" name="Oval 70"/>
          <p:cNvSpPr/>
          <p:nvPr/>
        </p:nvSpPr>
        <p:spPr>
          <a:xfrm>
            <a:off x="3959352" y="5358383"/>
            <a:ext cx="164592" cy="164592"/>
          </a:xfrm>
          <a:prstGeom prst="ellipse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72" name="Oval 71"/>
          <p:cNvSpPr/>
          <p:nvPr/>
        </p:nvSpPr>
        <p:spPr>
          <a:xfrm>
            <a:off x="5349240" y="5376672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73" name="Oval 72"/>
          <p:cNvSpPr/>
          <p:nvPr/>
        </p:nvSpPr>
        <p:spPr>
          <a:xfrm>
            <a:off x="6720840" y="5376672"/>
            <a:ext cx="128016" cy="128016"/>
          </a:xfrm>
          <a:prstGeom prst="ellipse">
            <a:avLst/>
          </a:prstGeom>
          <a:noFill/>
          <a:ln w="12700">
            <a:solidFill>
              <a:srgbClr val="D4C8BB"/>
            </a:solidFill>
          </a:ln>
          <a:effectLst/>
        </p:spPr>
        <p:txBody>
          <a:bodyPr rtlCol="0" anchor="ctr" wrap="square"/>
          <a:lstStyle/>
          <a:p/>
        </p:txBody>
      </p:sp>
      <p:sp>
        <p:nvSpPr>
          <p:cNvPr id="74" name="Oval 73"/>
          <p:cNvSpPr/>
          <p:nvPr/>
        </p:nvSpPr>
        <p:spPr>
          <a:xfrm>
            <a:off x="8074152" y="5358383"/>
            <a:ext cx="164592" cy="164592"/>
          </a:xfrm>
          <a:prstGeom prst="ellipse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75" name="Oval 74"/>
          <p:cNvSpPr/>
          <p:nvPr/>
        </p:nvSpPr>
        <p:spPr>
          <a:xfrm>
            <a:off x="9445752" y="5358383"/>
            <a:ext cx="164592" cy="164592"/>
          </a:xfrm>
          <a:prstGeom prst="ellipse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76" name="Oval 75"/>
          <p:cNvSpPr/>
          <p:nvPr/>
        </p:nvSpPr>
        <p:spPr>
          <a:xfrm>
            <a:off x="10817352" y="5358383"/>
            <a:ext cx="164592" cy="164592"/>
          </a:xfrm>
          <a:prstGeom prst="ellipse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566928" y="5870448"/>
            <a:ext cx="11057839" cy="548640"/>
          </a:xfrm>
          <a:prstGeom prst="roundRect">
            <a:avLst>
              <a:gd name="adj" fmla="val 5000"/>
            </a:avLst>
          </a:prstGeom>
          <a:solidFill>
            <a:srgbClr val="F7EBC7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D5C14"/>
                </a:solidFill>
                <a:latin typeface="Calibri"/>
              </a:rPr>
              <a:t>Within the supplied literature set, no study reads allele, phase and native methylation off the same molecule. This is a statement about these seven documents — not about the field.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5 · CURRENT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Tumor-only calling produced candidates, not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18487" y="1682495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1B16"/>
                </a:solidFill>
                <a:latin typeface="Calibri"/>
              </a:rPr>
              <a:t>HCC1395 tumor-only ONT BAM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7" y="2450591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long reads · no matched normal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24528" y="2688336"/>
            <a:ext cx="182880" cy="237744"/>
          </a:xfrm>
          <a:prstGeom prst="downArrow">
            <a:avLst/>
          </a:prstGeom>
          <a:solidFill>
            <a:srgbClr val="C9BEB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38527" y="2980944"/>
            <a:ext cx="4754880" cy="749808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1B16"/>
                </a:solidFill>
                <a:latin typeface="Calibri"/>
              </a:rPr>
              <a:t>ClairS-TO v0.5.0 [8]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7" y="3749039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tumor-only candidate calling and filtering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24528" y="3986783"/>
            <a:ext cx="182880" cy="237744"/>
          </a:xfrm>
          <a:prstGeom prst="downArrow">
            <a:avLst/>
          </a:prstGeom>
          <a:solidFill>
            <a:srgbClr val="C9BEB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04287" y="4279392"/>
            <a:ext cx="4023360" cy="749808"/>
          </a:xfrm>
          <a:prstGeom prst="roundRect">
            <a:avLst>
              <a:gd name="adj" fmla="val 5000"/>
            </a:avLst>
          </a:prstGeom>
          <a:solidFill>
            <a:srgbClr val="ECE6DA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F1B16"/>
                </a:solidFill>
                <a:latin typeface="Georgia"/>
              </a:rPr>
              <a:t>3,169,996 candidate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7" y="504748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all records emitted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224528" y="5285231"/>
            <a:ext cx="182880" cy="237744"/>
          </a:xfrm>
          <a:prstGeom prst="downArrow">
            <a:avLst/>
          </a:prstGeom>
          <a:solidFill>
            <a:srgbClr val="C9BEB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07208" y="5577840"/>
            <a:ext cx="3017520" cy="749808"/>
          </a:xfrm>
          <a:prstGeom prst="roundRect">
            <a:avLst>
              <a:gd name="adj" fmla="val 5000"/>
            </a:avLst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48,819 PASS SNV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6345936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1.54% of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5048" y="1682495"/>
            <a:ext cx="3239719" cy="1600200"/>
          </a:xfrm>
          <a:prstGeom prst="roundRect">
            <a:avLst>
              <a:gd name="adj" fmla="val 5000"/>
            </a:avLst>
          </a:prstGeom>
          <a:solidFill>
            <a:srgbClr val="F7EBC7"/>
          </a:solidFill>
          <a:ln>
            <a:noFill/>
          </a:ln>
          <a:effectLst/>
        </p:spPr>
        <p:txBody>
          <a:bodyPr rtlCol="0" anchor="ctr" wrap="square" lIns="219456" rIns="219456" tIns="36576" bIns="36576"/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D5C14"/>
                </a:solidFill>
                <a:latin typeface="Georgia"/>
              </a:rPr>
              <a:t>PASS is a caller retention label.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8D5C14"/>
                </a:solidFill>
                <a:latin typeface="Georgia"/>
              </a:rPr>
              <a:t>It is not confirmed somatic truth.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538728"/>
            <a:ext cx="32397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>
                <a:solidFill>
                  <a:srgbClr val="1F1B16"/>
                </a:solidFill>
                <a:latin typeface="Calibri"/>
              </a:rPr>
              <a:t>The 98.46% not retained is a selection funnel, not a false-positive rate.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453128"/>
            <a:ext cx="323971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>
                <a:solidFill>
                  <a:srgbClr val="1F1B16"/>
                </a:solidFill>
                <a:latin typeface="Calibri"/>
              </a:rPr>
              <a:t>The composition of the retained set — somatic, germline, artifact — is unknown. That gap is the next piece of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6 · CANDIDATE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Retained candidates carry substantial read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695F56"/>
                </a:solidFill>
                <a:latin typeface="Calibri"/>
              </a:rPr>
              <a:t>Descriptive characterisation of the PASS SNV set. No candidate is labelled somatic.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13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1F1B16"/>
                </a:solidFill>
                <a:latin typeface="Calibri"/>
              </a:rPr>
              <a:t>Read depth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2404872"/>
            <a:ext cx="4160520" cy="146304"/>
          </a:xfrm>
          <a:prstGeom prst="roundRect">
            <a:avLst>
              <a:gd name="adj" fmla="val 50000"/>
            </a:avLst>
          </a:prstGeom>
          <a:solidFill>
            <a:srgbClr val="E9E3D8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329683" y="2368296"/>
            <a:ext cx="1504188" cy="219456"/>
          </a:xfrm>
          <a:prstGeom prst="roundRect">
            <a:avLst>
              <a:gd name="adj" fmla="val 50000"/>
            </a:avLst>
          </a:prstGeom>
          <a:solidFill>
            <a:srgbClr val="D8EBE5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983480" y="2295144"/>
            <a:ext cx="45720" cy="365760"/>
          </a:xfrm>
          <a:prstGeom prst="rect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6559" y="22951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5C4E"/>
                </a:solidFill>
                <a:latin typeface="Calibri"/>
              </a:rPr>
              <a:t>median 80×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55117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IQR 59–106×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56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1F1B16"/>
                </a:solidFill>
                <a:latin typeface="Calibri"/>
              </a:rPr>
              <a:t>Allele fraction (VAF)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1448" y="3547872"/>
            <a:ext cx="4160520" cy="146304"/>
          </a:xfrm>
          <a:prstGeom prst="roundRect">
            <a:avLst>
              <a:gd name="adj" fmla="val 50000"/>
            </a:avLst>
          </a:prstGeom>
          <a:solidFill>
            <a:srgbClr val="E9E3D8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656319" y="3511296"/>
            <a:ext cx="2026173" cy="219456"/>
          </a:xfrm>
          <a:prstGeom prst="roundRect">
            <a:avLst>
              <a:gd name="adj" fmla="val 50000"/>
            </a:avLst>
          </a:prstGeom>
          <a:solidFill>
            <a:srgbClr val="D8EBE5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41159" y="3438144"/>
            <a:ext cx="45720" cy="365760"/>
          </a:xfrm>
          <a:prstGeom prst="rect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59" y="34381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5C4E"/>
                </a:solidFill>
                <a:latin typeface="Calibri"/>
              </a:rPr>
              <a:t>median 0.461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369417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IQR 0.292–0.779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599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1F1B16"/>
                </a:solidFill>
                <a:latin typeface="Calibri"/>
              </a:rPr>
              <a:t>ALT-supporting reads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1448" y="4690872"/>
            <a:ext cx="4160520" cy="146304"/>
          </a:xfrm>
          <a:prstGeom prst="roundRect">
            <a:avLst>
              <a:gd name="adj" fmla="val 50000"/>
            </a:avLst>
          </a:prstGeom>
          <a:solidFill>
            <a:srgbClr val="E9E3D8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977639" y="4654296"/>
            <a:ext cx="1856231" cy="219456"/>
          </a:xfrm>
          <a:prstGeom prst="roundRect">
            <a:avLst>
              <a:gd name="adj" fmla="val 50000"/>
            </a:avLst>
          </a:prstGeom>
          <a:solidFill>
            <a:srgbClr val="D8EBE5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663440" y="4581144"/>
            <a:ext cx="45720" cy="365760"/>
          </a:xfrm>
          <a:prstGeom prst="rect">
            <a:avLst/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6559" y="45811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5C4E"/>
                </a:solidFill>
                <a:latin typeface="Calibri"/>
              </a:rPr>
              <a:t>median 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483717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IQR 24–53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555040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bar = interquartile range   |   line = median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110727" y="1892807"/>
          <a:ext cx="3749039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110727" y="161848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1F1B16"/>
                </a:solidFill>
                <a:latin typeface="Calibri"/>
              </a:rPr>
              <a:t>Allele-fraction composition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55080"/>
            <a:ext cx="9594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VAF is an allele fraction in the source sample — it is not a tumor fraction.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7 · READING 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Allele fraction is not a simple coverage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801368"/>
          <a:ext cx="64922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24927" y="1801368"/>
            <a:ext cx="4199839" cy="16916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 lIns="182880" rIns="182880" tIns="36576" bIns="36576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F1B16"/>
                </a:solidFill>
                <a:latin typeface="Calibri"/>
              </a:rPr>
              <a:t>OBSERVATION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F1B16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F1B16"/>
                </a:solidFill>
                <a:latin typeface="Calibri"/>
              </a:rPr>
              <a:t>VAF falls slightly as depth rises; ALT support tracks depth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24927" y="3675887"/>
            <a:ext cx="4199839" cy="2103120"/>
          </a:xfrm>
          <a:prstGeom prst="roundRect">
            <a:avLst>
              <a:gd name="adj" fmla="val 5000"/>
            </a:avLst>
          </a:prstGeom>
          <a:solidFill>
            <a:srgbClr val="D8EBE5"/>
          </a:solidFill>
          <a:ln>
            <a:noFill/>
          </a:ln>
          <a:effectLst/>
        </p:spPr>
        <p:txBody>
          <a:bodyPr rtlCol="0" anchor="ctr" wrap="square" lIns="182880" rIns="182880" tIns="36576" bIns="36576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F5C4E"/>
                </a:solidFill>
                <a:latin typeface="Calibri"/>
              </a:rPr>
              <a:t>INTERPRETATION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F5C4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F5C4E"/>
                </a:solidFill>
                <a:latin typeface="Calibri"/>
              </a:rPr>
              <a:t>Heterogeneity in the retained set does not collapse into one coverage effect. This bounds a technical concern; it does not establish biological origin.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8 ·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From a candidate list to an open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532888"/>
            <a:ext cx="2487168" cy="1874519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1F1B16"/>
                </a:solidFill>
                <a:latin typeface="Georgia"/>
              </a:rPr>
              <a:t>Tumor-only SNV</a:t>
            </a:r>
          </a:p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1F1B16"/>
                </a:solidFill>
                <a:latin typeface="Georgia"/>
              </a:rPr>
              <a:t>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448970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produced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55264" y="3337560"/>
            <a:ext cx="256031" cy="274320"/>
          </a:xfrm>
          <a:prstGeom prst="rightArrow">
            <a:avLst/>
          </a:prstGeom>
          <a:solidFill>
            <a:srgbClr val="C9BEB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75304" y="2532888"/>
            <a:ext cx="2487168" cy="1874519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1F1B16"/>
                </a:solidFill>
                <a:latin typeface="Georgia"/>
              </a:rPr>
              <a:t>At low tumor fraction,</a:t>
            </a:r>
          </a:p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1F1B16"/>
                </a:solidFill>
                <a:latin typeface="Georgia"/>
              </a:rPr>
              <a:t>isolated ALT observations</a:t>
            </a:r>
          </a:p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1F1B16"/>
                </a:solidFill>
                <a:latin typeface="Georgia"/>
              </a:rPr>
              <a:t>resemble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448970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follows from the barriers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37560"/>
            <a:ext cx="256031" cy="274320"/>
          </a:xfrm>
          <a:prstGeom prst="rightArrow">
            <a:avLst/>
          </a:prstGeom>
          <a:solidFill>
            <a:srgbClr val="C9BEB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2532888"/>
            <a:ext cx="2487168" cy="1874519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1F1B16"/>
                </a:solidFill>
                <a:latin typeface="Georgia"/>
              </a:rPr>
              <a:t>Long reads also carry phase</a:t>
            </a:r>
          </a:p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1F1B16"/>
                </a:solidFill>
                <a:latin typeface="Georgia"/>
              </a:rPr>
              <a:t>and native methylation</a:t>
            </a:r>
          </a:p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1F1B16"/>
                </a:solidFill>
                <a:latin typeface="Georgia"/>
              </a:rPr>
              <a:t>on the same molecule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48970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property of the platform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97696" y="3337560"/>
            <a:ext cx="256031" cy="274320"/>
          </a:xfrm>
          <a:prstGeom prst="rightArrow">
            <a:avLst/>
          </a:prstGeom>
          <a:solidFill>
            <a:srgbClr val="C9BEB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17736" y="2532888"/>
            <a:ext cx="2487168" cy="1874519"/>
          </a:xfrm>
          <a:prstGeom prst="roundRect">
            <a:avLst>
              <a:gd name="adj" fmla="val 5000"/>
            </a:avLst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FFFFFF"/>
                </a:solidFill>
                <a:latin typeface="Georgia"/>
              </a:rPr>
              <a:t>Added discriminative</a:t>
            </a:r>
          </a:p>
          <a:p>
            <a:pPr algn="ctr">
              <a:lnSpc>
                <a:spcPct val="125000"/>
              </a:lnSpc>
            </a:pPr>
            <a:r>
              <a:rPr sz="1450" b="0">
                <a:solidFill>
                  <a:srgbClr val="FFFFFF"/>
                </a:solidFill>
                <a:latin typeface="Georgia"/>
              </a:rPr>
              <a:t>value is 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448970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open — and testable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52160"/>
            <a:ext cx="9594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Conceptual chain. No step asserts a measured effect, and the representation and evaluation of these modalities are deliberately not specified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9 ·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What the next stage will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01368"/>
            <a:ext cx="11057839" cy="1051560"/>
          </a:xfrm>
          <a:prstGeom prst="roundRect">
            <a:avLst>
              <a:gd name="adj" fmla="val 5000"/>
            </a:avLst>
          </a:prstGeom>
          <a:solidFill>
            <a:srgbClr val="1F5C4E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Georgia"/>
              </a:rPr>
              <a:t>Does phase evidence and/or native methylation evidence improve the recognition</a:t>
            </a:r>
          </a:p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Georgia"/>
              </a:rPr>
              <a:t>of tumor-derived signal compared with SNV-only evidence?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910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1F5C4E"/>
                </a:solidFill>
                <a:latin typeface="Calibri"/>
              </a:rPr>
              <a:t>RESEARCH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172968"/>
            <a:ext cx="5346039" cy="14630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 lIns="219456" rIns="219456" tIns="36576" bIns="36576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1B16"/>
                </a:solidFill>
                <a:latin typeface="Calibri"/>
              </a:rPr>
              <a:t>H₀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1B1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1B16"/>
                </a:solidFill>
                <a:latin typeface="Calibri"/>
              </a:rPr>
              <a:t>Adding phase or native methylation evidence does not improve tumor-signal recognition over SNV-only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3172968"/>
            <a:ext cx="5346039" cy="1463040"/>
          </a:xfrm>
          <a:prstGeom prst="roundRect">
            <a:avLst>
              <a:gd name="adj" fmla="val 5000"/>
            </a:avLst>
          </a:prstGeom>
          <a:solidFill>
            <a:srgbClr val="D8EBE5"/>
          </a:solidFill>
          <a:ln>
            <a:noFill/>
          </a:ln>
          <a:effectLst/>
        </p:spPr>
        <p:txBody>
          <a:bodyPr rtlCol="0" anchor="ctr" wrap="square" lIns="219456" rIns="219456" tIns="36576" bIns="36576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5C4E"/>
                </a:solidFill>
                <a:latin typeface="Calibri"/>
              </a:rPr>
              <a:t>H₁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5C4E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5C4E"/>
                </a:solidFill>
                <a:latin typeface="Calibri"/>
              </a:rPr>
              <a:t>Phase and/or native methylation evidence provides additional discriminative value beyond SNV-only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64608"/>
            <a:ext cx="11057839" cy="777240"/>
          </a:xfrm>
          <a:prstGeom prst="roundRect">
            <a:avLst>
              <a:gd name="adj" fmla="val 5000"/>
            </a:avLst>
          </a:prstGeom>
          <a:solidFill>
            <a:srgbClr val="F7EBC7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D5C14"/>
                </a:solidFill>
                <a:latin typeface="Calibri"/>
              </a:rPr>
              <a:t>Either outcome is informative. A surviving H₀ means phase and methylation are redundant with sequence evidence in this setting — a result about long-read MRD, not a failed experiment.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10 · CLAIM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What this report does not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58568"/>
            <a:ext cx="2531287" cy="27889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258568"/>
            <a:ext cx="2531287" cy="64008"/>
          </a:xfrm>
          <a:prstGeom prst="rect">
            <a:avLst/>
          </a:prstGeom>
          <a:solidFill>
            <a:srgbClr val="8F3D2C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2624328"/>
            <a:ext cx="20557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8F3D2C"/>
                </a:solidFill>
                <a:latin typeface="Georgia"/>
              </a:rPr>
              <a:t>PASS ≠ somatic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01568"/>
            <a:ext cx="20557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 i="0">
                <a:solidFill>
                  <a:srgbClr val="695F56"/>
                </a:solidFill>
                <a:latin typeface="Calibri"/>
              </a:rPr>
              <a:t>A retention label from the caller, not a biological verdict.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9111" y="2258568"/>
            <a:ext cx="2531287" cy="27889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111" y="2258568"/>
            <a:ext cx="2531287" cy="64008"/>
          </a:xfrm>
          <a:prstGeom prst="rect">
            <a:avLst/>
          </a:prstGeom>
          <a:solidFill>
            <a:srgbClr val="8F3D2C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46855" y="2624328"/>
            <a:ext cx="20557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8F3D2C"/>
                </a:solidFill>
                <a:latin typeface="Georgia"/>
              </a:rPr>
              <a:t>VAF ≠ tumor fraction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6855" y="3401568"/>
            <a:ext cx="20557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 i="0">
                <a:solidFill>
                  <a:srgbClr val="695F56"/>
                </a:solidFill>
                <a:latin typeface="Calibri"/>
              </a:rPr>
              <a:t>An allele fraction in the source sample.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1295" y="2258568"/>
            <a:ext cx="2531287" cy="27889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1295" y="2258568"/>
            <a:ext cx="2531287" cy="64008"/>
          </a:xfrm>
          <a:prstGeom prst="rect">
            <a:avLst/>
          </a:prstGeom>
          <a:solidFill>
            <a:srgbClr val="8F3D2C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89039" y="2624328"/>
            <a:ext cx="20557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8F3D2C"/>
                </a:solidFill>
                <a:latin typeface="Georgia"/>
              </a:rPr>
              <a:t>Coverage ≠ sensitivity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3401568"/>
            <a:ext cx="20557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 i="0">
                <a:solidFill>
                  <a:srgbClr val="695F56"/>
                </a:solidFill>
                <a:latin typeface="Calibri"/>
              </a:rPr>
              <a:t>High depth here says nothing about low-tumor-fraction detection.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3479" y="2258568"/>
            <a:ext cx="2531287" cy="27889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4C8B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3479" y="2258568"/>
            <a:ext cx="2531287" cy="64008"/>
          </a:xfrm>
          <a:prstGeom prst="rect">
            <a:avLst/>
          </a:prstGeom>
          <a:solidFill>
            <a:srgbClr val="8F3D2C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31223" y="2624328"/>
            <a:ext cx="20557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8F3D2C"/>
                </a:solidFill>
                <a:latin typeface="Georgia"/>
              </a:rPr>
              <a:t>Gap ≠ field-wide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1223" y="3401568"/>
            <a:ext cx="20557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 i="0">
                <a:solidFill>
                  <a:srgbClr val="695F56"/>
                </a:solidFill>
                <a:latin typeface="Calibri"/>
              </a:rPr>
              <a:t>The unresolved question is scoped to the seven supplied documents.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897880"/>
            <a:ext cx="9594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No experimental result is reported in this deck. Every number shown is a property of the candidate call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F5C4E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 i="0">
                <a:solidFill>
                  <a:srgbClr val="1F1B16"/>
                </a:solidFill>
                <a:latin typeface="Georgia"/>
              </a:rPr>
              <a:t>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057839" cy="10972"/>
          </a:xfrm>
          <a:prstGeom prst="rect">
            <a:avLst/>
          </a:prstGeom>
          <a:solidFill>
            <a:srgbClr val="D4C8BB"/>
          </a:solidFill>
          <a:ln>
            <a:noFill/>
          </a:ln>
          <a:effectLst/>
        </p:spPr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61727" y="65196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95F56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47088"/>
            <a:ext cx="5300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1F1B16"/>
                </a:solidFill>
                <a:latin typeface="Calibri"/>
              </a:rPr>
              <a:t>[1] A. Zviran et al., "Genome-wide cell-free DNA mutational integration enables ultra-sensitive cancer monitoring," Nat. Med., vol. 26, no. 7, pp. 1114–1124, Jul. 2020, doi: 10.1038/s41591-020-0915-3.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98648"/>
            <a:ext cx="5300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1F1B16"/>
                </a:solidFill>
                <a:latin typeface="Calibri"/>
              </a:rPr>
              <a:t>[2] A. J. Widman et al., "Ultrasensitive plasma-based monitoring of tumor burden using machine-learning-guided signal enrichment," Nat. Med., vol. 30, no. 6, pp. 1655–1666, Jun. 2024, doi: 10.1038/s41591-024-03040-4.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950208"/>
            <a:ext cx="5300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1F1B16"/>
                </a:solidFill>
                <a:latin typeface="Calibri"/>
              </a:rPr>
              <a:t>[3] N. Klimova, S. Close, D. M. Kurtz, R. D. Hockett, and L. Hyland, "Analytical validation of a circulating tumor DNA assay using PhasED-Seq technology for detecting residual disease in B-cell malignancies," Oncotarget, vol. 16, pp. 329–336, May 2025, doi: 10.18632/oncotarget.28719.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01768"/>
            <a:ext cx="5300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1F1B16"/>
                </a:solidFill>
                <a:latin typeface="Calibri"/>
              </a:rPr>
              <a:t>[4] Y. van der Pol et al., "Real-time analysis of the cancer genome and fragmentome from plasma and urine cell-free DNA using nanopore sequencing," EMBO Mol. Med., vol. 15, no. 12, art. no. e17282, Dec. 2023, doi: 10.15252/emmm.202217282.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847088"/>
            <a:ext cx="5300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1F1B16"/>
                </a:solidFill>
                <a:latin typeface="Calibri"/>
              </a:rPr>
              <a:t>[5] L.-T. Chen et al., "Nanopore-based consensus sequencing enables accurate multimodal tumor cell-free DNA profiling," Genome Res., vol. 35, no. 4, pp. 886–899, Apr. 2025, doi: 10.1101/gr.279144.124.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2898648"/>
            <a:ext cx="5300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1F1B16"/>
                </a:solidFill>
                <a:latin typeface="Calibri"/>
              </a:rPr>
              <a:t>[6] M. Noë et al., "DNA methylation and gene expression as determinants of genome-wide cell-free DNA fragmentation," Nat. Commun., vol. 15, no. 1, art. no. 6690, Aug. 2024, doi: 10.1038/s41467-024-50850-8.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950208"/>
            <a:ext cx="5300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1F1B16"/>
                </a:solidFill>
                <a:latin typeface="Calibri"/>
              </a:rPr>
              <a:t>[7] Oxford Nanopore Technologies plc, "Updated method for cell-free DNA (cfDNA) methylation profiling," Requirements document, Oxford, U.K. [Online]. Available: https://nanoporetech.com/document/requirements/cfDNA-methyl-profile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5001768"/>
            <a:ext cx="5300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1F1B16"/>
                </a:solidFill>
                <a:latin typeface="Calibri"/>
              </a:rPr>
              <a:t>[8] HKU-BAL, "ClairS-TO — a deep-learning method for tumor-only somatic variant calling," v0.5.0, GitHub. [Online]. Available: https://github.com/HKU-BAL/ClairS-TO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63640"/>
            <a:ext cx="9594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695F56"/>
                </a:solidFill>
                <a:latin typeface="Calibri"/>
              </a:rPr>
              <a:t>Bibliographic fields verified against publisher records; identical to the project website's reference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